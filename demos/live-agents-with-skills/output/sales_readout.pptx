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Ten-minute readout. Headline: $19.0M, up 19.2% from Q1 to Q4, growth in every quarter. APAC is the acquisition engine. One correction to flag up front: the churn risk is Europe, not LATAM.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Baseline slide. Growth is steady, not spiky. Enterprise carries 60% of revenue.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APAC leads on customer acquisition (1,078, ~30% of new customers) and has the lowest average churn at 3.39%. Be straight with the room: on pure revenue growth APAC ranks fourth at +16.8%. The engine is volume and retention.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intentionally departs from the brief. LATAM churn fell from 4.4% to 3.2%; Europe rose from 3.4% to 5.1% and has the worst average at 4.19%. Recommend we redirect retention effort to Europe.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region grew 16–23% and every region holds about a quarter of revenue. LATAM was actually fastest at +22.7%. Enterprise is 60% of the book, so Enterprise churn is what moves the number.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these three. One: fund APAC capacity. Two: Europe retention task force — this is the change from what we walked in believing. Three: protect Enterprise, which is 60% of revenue. Ask for headcount approval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920240"/>
            <a:ext cx="5669280" cy="56692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287000" y="4160520"/>
            <a:ext cx="914400" cy="91440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417320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FY2025 SALES READOUT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874520"/>
            <a:ext cx="81381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APAC is the growth engine.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Churn is the risk.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365760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$19.0M booked across four regions and three products, growing every quarter — but the retention story is not the one we expected.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470916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$19.0M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52852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FY2025 revenue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3264408" y="470916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+19.2%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3264408" y="52852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Revenue, Q1 → Q4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5751576" y="470916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3,619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5751576" y="52852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customers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6035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A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 readout · 10 minutes · Source: sales_2025.csv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21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57200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year in one view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133856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grew in all four quarters; Q4 was the strongest of the year.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6537960" cy="3977640"/>
          </a:xfrm>
          <a:prstGeom prst="roundRect">
            <a:avLst>
              <a:gd name="adj" fmla="val 229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28000"/>
              </a:srgbClr>
            </a:outerShdw>
          </a:effectLst>
        </p:spPr>
      </p:sp>
      <p:pic>
        <p:nvPicPr>
          <p:cNvPr id="5" name="Image 0" descr="/tmp/deck/chart_quarterl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783080"/>
            <a:ext cx="6172200" cy="327355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68680" y="5102352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alone delivered $5.20M — 19.2% above Q1.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7406640" y="1600200"/>
            <a:ext cx="4160520" cy="1207008"/>
          </a:xfrm>
          <a:prstGeom prst="roundRect">
            <a:avLst>
              <a:gd name="adj" fmla="val 7576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2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635240" y="2011680"/>
            <a:ext cx="384048" cy="384048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183880" y="1755648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$19.03M</a:t>
            </a:r>
            <a:endParaRPr lang="en-US" sz="1900" dirty="0"/>
          </a:p>
        </p:txBody>
      </p:sp>
      <p:sp>
        <p:nvSpPr>
          <p:cNvPr id="10" name="Text 7"/>
          <p:cNvSpPr txBox="1"/>
          <p:nvPr/>
        </p:nvSpPr>
        <p:spPr>
          <a:xfrm>
            <a:off x="8183880" y="210312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FY2025 revenue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8183880" y="23591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quarters, four regions, three products.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7406640" y="2971800"/>
            <a:ext cx="4160520" cy="1207008"/>
          </a:xfrm>
          <a:prstGeom prst="roundRect">
            <a:avLst>
              <a:gd name="adj" fmla="val 7576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2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7635240" y="3383280"/>
            <a:ext cx="384048" cy="384048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183880" y="3127248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Enterprise = 60%</a:t>
            </a:r>
            <a:endParaRPr lang="en-US" sz="1900" dirty="0"/>
          </a:p>
        </p:txBody>
      </p:sp>
      <p:sp>
        <p:nvSpPr>
          <p:cNvPr id="15" name="Text 12"/>
          <p:cNvSpPr txBox="1"/>
          <p:nvPr/>
        </p:nvSpPr>
        <p:spPr>
          <a:xfrm>
            <a:off x="8183880" y="347472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$11.33M of revenue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8183880" y="37307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$5.52M, Starter $2.18M.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7406640" y="4343400"/>
            <a:ext cx="4160520" cy="1207008"/>
          </a:xfrm>
          <a:prstGeom prst="roundRect">
            <a:avLst>
              <a:gd name="adj" fmla="val 7576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2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7635240" y="4754880"/>
            <a:ext cx="384048" cy="384048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183880" y="4498848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+19.2%</a:t>
            </a:r>
            <a:endParaRPr lang="en-US" sz="1900" dirty="0"/>
          </a:p>
        </p:txBody>
      </p:sp>
      <p:sp>
        <p:nvSpPr>
          <p:cNvPr id="20" name="Text 17"/>
          <p:cNvSpPr txBox="1"/>
          <p:nvPr/>
        </p:nvSpPr>
        <p:spPr>
          <a:xfrm>
            <a:off x="8183880" y="484632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→ Q4 revenue growth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8183880" y="51023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region grew double digits.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1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57200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APAC is the growth engine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133856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wins more customers than any other region — and keeps them best.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6537960" cy="3977640"/>
          </a:xfrm>
          <a:prstGeom prst="roundRect">
            <a:avLst>
              <a:gd name="adj" fmla="val 229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28000"/>
              </a:srgbClr>
            </a:outerShdw>
          </a:effectLst>
        </p:spPr>
      </p:sp>
      <p:pic>
        <p:nvPicPr>
          <p:cNvPr id="5" name="Image 0" descr="/tmp/deck/chart_newcu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828800"/>
            <a:ext cx="6080760" cy="341985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406640" y="16459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EARNS THE INVESTMENT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406640" y="208483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1,078 new customers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7406640" y="2414016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9AA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 of everything we won this year — and 6% ahead of North America.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7406640" y="3255264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Lowest churn: 3.39%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7406640" y="3584448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9AA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best average retention of any region across the four quarters.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7406640" y="4425696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 up +22.0%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7406640" y="4754880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9AA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fastest-growing product line, pointing to a clear land-and-expand motion.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7406640" y="5504688"/>
            <a:ext cx="4206240" cy="658368"/>
          </a:xfrm>
          <a:prstGeom prst="roundRect">
            <a:avLst>
              <a:gd name="adj" fmla="val 13889"/>
            </a:avLst>
          </a:prstGeom>
          <a:solidFill>
            <a:srgbClr val="2A2150"/>
          </a:solidFill>
          <a:ln w="12700">
            <a:solidFill>
              <a:srgbClr val="F96167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28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7589520" y="559612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Caveat: 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revenue growth APAC is fourth (+16.8%). Its edge is volume and retention, not price.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1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57200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churn risk is Europe — not LATAM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133856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came in expecting a LATAM problem. The data points somewhere else.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6903720" cy="3977640"/>
          </a:xfrm>
          <a:prstGeom prst="roundRect">
            <a:avLst>
              <a:gd name="adj" fmla="val 229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28000"/>
              </a:srgbClr>
            </a:outerShdw>
          </a:effectLst>
        </p:spPr>
      </p:sp>
      <p:pic>
        <p:nvPicPr>
          <p:cNvPr id="5" name="Image 0" descr="/tmp/deck/chart_chur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828800"/>
            <a:ext cx="6492240" cy="34381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772400" y="169164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Europe: 3.4% → 5.1%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772400" y="2020824"/>
            <a:ext cx="3840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AA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average churn (4.19%) and the only clearly worsening trend, up 1.7 pts.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7772400" y="300837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LATAM: 4.4% → 3.2%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7772400" y="3337560"/>
            <a:ext cx="3840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AA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improved 1.2 pts — second-lowest for the year. The risk we assumed has receded.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7772400" y="432511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AA7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 &amp; APAC: stable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7772400" y="4654296"/>
            <a:ext cx="3840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AA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America flat at ~4.0%; APAC drifted up but still the lowest average.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7772400" y="5504688"/>
            <a:ext cx="3840480" cy="658368"/>
          </a:xfrm>
          <a:prstGeom prst="roundRect">
            <a:avLst>
              <a:gd name="adj" fmla="val 13889"/>
            </a:avLst>
          </a:prstGeom>
          <a:solidFill>
            <a:srgbClr val="2A2150"/>
          </a:solidFill>
          <a:ln w="12700">
            <a:solidFill>
              <a:srgbClr val="F96167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28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7936992" y="5577840"/>
            <a:ext cx="3520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Europe's Q4 churn of 5.1% puts ~$0.27M of annualised revenue at risk.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1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57200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Growth was broad-based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133856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region carried the year alone — revenue share is near-identical at ~25% each.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6035040" cy="3611880"/>
          </a:xfrm>
          <a:prstGeom prst="roundRect">
            <a:avLst>
              <a:gd name="adj" fmla="val 2532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28000"/>
              </a:srgbClr>
            </a:outerShdw>
          </a:effectLst>
        </p:spPr>
      </p:sp>
      <p:pic>
        <p:nvPicPr>
          <p:cNvPr id="5" name="Image 0" descr="/tmp/deck/chart_growt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828800"/>
            <a:ext cx="5669280" cy="29260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68680" y="4754880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LATAM posted the fastest revenue growth of any region.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6903720" y="1600200"/>
            <a:ext cx="2212848" cy="1664208"/>
          </a:xfrm>
          <a:prstGeom prst="roundRect">
            <a:avLst>
              <a:gd name="adj" fmla="val 5495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28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7104888" y="18013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AA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7104888" y="2167128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$11.33M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7104888" y="271576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 of revenue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9299448" y="1600200"/>
            <a:ext cx="2212848" cy="1664208"/>
          </a:xfrm>
          <a:prstGeom prst="roundRect">
            <a:avLst>
              <a:gd name="adj" fmla="val 5495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28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9500616" y="18013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AA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9500616" y="2167128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$5.52M</a:t>
            </a:r>
            <a:endParaRPr lang="en-US" sz="2400" dirty="0"/>
          </a:p>
        </p:txBody>
      </p:sp>
      <p:sp>
        <p:nvSpPr>
          <p:cNvPr id="14" name="Text 11"/>
          <p:cNvSpPr txBox="1"/>
          <p:nvPr/>
        </p:nvSpPr>
        <p:spPr>
          <a:xfrm>
            <a:off x="9500616" y="271576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29% of revenue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903720" y="3447288"/>
            <a:ext cx="2212848" cy="1664208"/>
          </a:xfrm>
          <a:prstGeom prst="roundRect">
            <a:avLst>
              <a:gd name="adj" fmla="val 5495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28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7104888" y="36484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AA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7104888" y="4014216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$2.18M</a:t>
            </a:r>
            <a:endParaRPr lang="en-US" sz="2400" dirty="0"/>
          </a:p>
        </p:txBody>
      </p:sp>
      <p:sp>
        <p:nvSpPr>
          <p:cNvPr id="18" name="Text 15"/>
          <p:cNvSpPr txBox="1"/>
          <p:nvPr/>
        </p:nvSpPr>
        <p:spPr>
          <a:xfrm>
            <a:off x="7104888" y="4562856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11% of revenue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9299448" y="3447288"/>
            <a:ext cx="2212848" cy="1664208"/>
          </a:xfrm>
          <a:prstGeom prst="roundRect">
            <a:avLst>
              <a:gd name="adj" fmla="val 5495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28000"/>
              </a:srgbClr>
            </a:outerShdw>
          </a:effectLst>
        </p:spPr>
      </p:sp>
      <p:sp>
        <p:nvSpPr>
          <p:cNvPr id="20" name="Text 17"/>
          <p:cNvSpPr txBox="1"/>
          <p:nvPr/>
        </p:nvSpPr>
        <p:spPr>
          <a:xfrm>
            <a:off x="9500616" y="36484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AA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 spread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9500616" y="4014216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24.7–25.4%</a:t>
            </a:r>
            <a:endParaRPr lang="en-US" sz="1900" dirty="0"/>
          </a:p>
        </p:txBody>
      </p:sp>
      <p:sp>
        <p:nvSpPr>
          <p:cNvPr id="22" name="Text 19"/>
          <p:cNvSpPr txBox="1"/>
          <p:nvPr/>
        </p:nvSpPr>
        <p:spPr>
          <a:xfrm>
            <a:off x="9500616" y="4562856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total revenue</a:t>
            </a:r>
            <a:endParaRPr lang="en-US" sz="1050" dirty="0"/>
          </a:p>
        </p:txBody>
      </p:sp>
      <p:sp>
        <p:nvSpPr>
          <p:cNvPr id="23" name="Text 20"/>
          <p:cNvSpPr txBox="1"/>
          <p:nvPr/>
        </p:nvSpPr>
        <p:spPr>
          <a:xfrm>
            <a:off x="594360" y="54406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the portfolio is balanced, so retention — not new-region expansion — is the lever for FY2026.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1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194560" y="3566160"/>
            <a:ext cx="5486400" cy="54864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77240" y="56692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93268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recommendations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777240" y="1828800"/>
            <a:ext cx="10607040" cy="1225296"/>
          </a:xfrm>
          <a:prstGeom prst="roundRect">
            <a:avLst>
              <a:gd name="adj" fmla="val 7463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24128" y="2157984"/>
            <a:ext cx="566928" cy="566928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24128" y="2258568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783080" y="2011680"/>
            <a:ext cx="9326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Fund APAC as the growth engine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783080" y="2377440"/>
            <a:ext cx="9326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AA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two enterprise AEs and a partner lead in APAC for H1. It already wins 30% of new customers at the lowest churn in the business — capacity, not demand, is the constraint.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77240" y="3227832"/>
            <a:ext cx="10607040" cy="1225296"/>
          </a:xfrm>
          <a:prstGeom prst="roundRect">
            <a:avLst>
              <a:gd name="adj" fmla="val 7463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024128" y="3557016"/>
            <a:ext cx="566928" cy="566928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24128" y="3657600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783080" y="3410712"/>
            <a:ext cx="9326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 up a Europe retention task force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783080" y="3776472"/>
            <a:ext cx="9326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AA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Europe, not LATAM, is our churn problem: 3.4% → 5.1% across the year. Put a named owner on the top 20 at-risk Enterprise accounts and report weekly from Q1.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77240" y="4626864"/>
            <a:ext cx="10607040" cy="1225296"/>
          </a:xfrm>
          <a:prstGeom prst="roundRect">
            <a:avLst>
              <a:gd name="adj" fmla="val 7463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2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024128" y="4956048"/>
            <a:ext cx="566928" cy="566928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24128" y="5056632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783080" y="4809744"/>
            <a:ext cx="9326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Defend the Enterprise book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1783080" y="5175504"/>
            <a:ext cx="9326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AA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is 60% of revenue ($11.33M). Move executive sponsors onto every account above $500K and make renewal risk a standing item in the monthly business review.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777240" y="6144768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A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sales_2025.csv · 48 region–product–quarter records, FY2025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FY2025 Sales Readout</dc:title>
  <dc:subject>PptxGenJS Presentation</dc:subject>
  <dc:creator>Sales Ops</dc:creator>
  <cp:lastModifiedBy>Sales Ops</cp:lastModifiedBy>
  <cp:revision>1</cp:revision>
  <dcterms:created xsi:type="dcterms:W3CDTF">2026-09-15T17:54:23Z</dcterms:created>
  <dcterms:modified xsi:type="dcterms:W3CDTF">2026-09-15T17:54:23Z</dcterms:modified>
</cp:coreProperties>
</file>
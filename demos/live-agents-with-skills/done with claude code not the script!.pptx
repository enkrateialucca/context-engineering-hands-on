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North America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1.101547</c:v>
                </c:pt>
                <c:pt idx="1">
                  <c:v>1.146371</c:v>
                </c:pt>
                <c:pt idx="2">
                  <c:v>1.184615</c:v>
                </c:pt>
                <c:pt idx="3">
                  <c:v>1.283116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1.083967</c:v>
                </c:pt>
                <c:pt idx="1">
                  <c:v>1.212487</c:v>
                </c:pt>
                <c:pt idx="2">
                  <c:v>1.217264</c:v>
                </c:pt>
                <c:pt idx="3">
                  <c:v>1.311216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APAC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1.117872</c:v>
                </c:pt>
                <c:pt idx="1">
                  <c:v>1.154283</c:v>
                </c:pt>
                <c:pt idx="2">
                  <c:v>1.219444</c:v>
                </c:pt>
                <c:pt idx="3">
                  <c:v>1.305414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LATAM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1.057887</c:v>
                </c:pt>
                <c:pt idx="1">
                  <c:v>1.131365</c:v>
                </c:pt>
                <c:pt idx="2">
                  <c:v>1.207818</c:v>
                </c:pt>
                <c:pt idx="3">
                  <c:v>1.298005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AA8C0"/>
            </a:solidFill>
          </a:ln>
        </c:spPr>
        <c:txPr>
          <a:bodyPr/>
          <a:lstStyle/>
          <a:p>
            <a:pPr>
              <a:defRPr sz="12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2A3F66"/>
              </a:solidFill>
            </a:ln>
          </c:spPr>
        </c:majorGridlines>
        <c:numFmt formatCode="&quot;$&quot;0.0&quot;M&quot;" sourceLinked="0"/>
        <c:majorTickMark val="out"/>
        <c:minorTickMark val="none"/>
        <c:tickLblPos val="nextTo"/>
        <c:spPr>
          <a:ln>
            <a:solidFill>
              <a:srgbClr val="9AA8C0"/>
            </a:solidFill>
          </a:ln>
        </c:spPr>
        <c:txPr>
          <a:bodyPr/>
          <a:lstStyle/>
          <a:p>
            <a:pPr>
              <a:defRPr sz="12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FFFFFF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New customers (FY)</c:v>
                </c:pt>
              </c:strCache>
            </c:strRef>
          </c:tx>
          <c:spPr>
            <a:solidFill>
              <a:srgbClr val="F5A623"/>
            </a:solidFill>
          </c:spPr>
          <c:cat>
            <c:strRef>
              <c:f>Sheet1!$A$2:$A$5</c:f>
              <c:strCache>
                <c:ptCount val="4"/>
                <c:pt idx="0">
                  <c:v>North America</c:v>
                </c:pt>
                <c:pt idx="1">
                  <c:v>Europe</c:v>
                </c:pt>
                <c:pt idx="2">
                  <c:v>APAC</c:v>
                </c:pt>
                <c:pt idx="3">
                  <c:v>LATAM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1018</c:v>
                </c:pt>
                <c:pt idx="1">
                  <c:v>747</c:v>
                </c:pt>
                <c:pt idx="2">
                  <c:v>1078</c:v>
                </c:pt>
                <c:pt idx="3">
                  <c:v>776</c:v>
                </c:pt>
              </c:numCache>
            </c:numRef>
          </c:val>
        </c:ser>
        <c:dLbls>
          <c:txPr>
            <a:bodyPr/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9AA8C0"/>
            </a:solidFill>
          </a:ln>
        </c:spPr>
        <c:txPr>
          <a:bodyPr/>
          <a:lstStyle/>
          <a:p>
            <a:pPr>
              <a:defRPr sz="12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2A3F66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9AA8C0"/>
            </a:solidFill>
          </a:ln>
        </c:spPr>
        <c:txPr>
          <a:bodyPr/>
          <a:lstStyle/>
          <a:p>
            <a:pPr>
              <a:defRPr sz="12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 America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4.533333333333333</c:v>
                </c:pt>
                <c:pt idx="1">
                  <c:v>3.7000000000000006</c:v>
                </c:pt>
                <c:pt idx="2">
                  <c:v>3.533333333333333</c:v>
                </c:pt>
                <c:pt idx="3">
                  <c:v>4.066666666666667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3.4000000000000004</c:v>
                </c:pt>
                <c:pt idx="1">
                  <c:v>4.633333333333333</c:v>
                </c:pt>
                <c:pt idx="2">
                  <c:v>3.6333333333333333</c:v>
                </c:pt>
                <c:pt idx="3">
                  <c:v>5.1000000000000005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APAC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2.8000000000000003</c:v>
                </c:pt>
                <c:pt idx="1">
                  <c:v>2.566666666666667</c:v>
                </c:pt>
                <c:pt idx="2">
                  <c:v>4.2</c:v>
                </c:pt>
                <c:pt idx="3">
                  <c:v>4.0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LATAM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4.3999999999999995</c:v>
                </c:pt>
                <c:pt idx="1">
                  <c:v>3.1</c:v>
                </c:pt>
                <c:pt idx="2">
                  <c:v>4.1000000000000005</c:v>
                </c:pt>
                <c:pt idx="3">
                  <c:v>3.2000000000000006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AA8C0"/>
            </a:solidFill>
          </a:ln>
        </c:spPr>
        <c:txPr>
          <a:bodyPr/>
          <a:lstStyle/>
          <a:p>
            <a:pPr>
              <a:defRPr sz="1200">
                <a:solidFill>
                  <a:srgbClr val="FFFFF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2A3F66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>
            <a:solidFill>
              <a:srgbClr val="9AA8C0"/>
            </a:solidFill>
          </a:ln>
        </c:spPr>
        <c:txPr>
          <a:bodyPr/>
          <a:lstStyle/>
          <a:p>
            <a:pPr>
              <a:defRPr sz="1200">
                <a:solidFill>
                  <a:srgbClr val="FFFFF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>
              <a:solidFill>
                <a:srgbClr val="FFFFFF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2025 Sales Readout</a:t>
            </a:r>
          </a:p>
          <a:p>
            <a:pPr>
              <a:defRPr sz="2600">
                <a:solidFill>
                  <a:srgbClr val="F5A623"/>
                </a:solidFill>
              </a:defRPr>
            </a:pPr>
            <a:r>
              <a:t>APAC is the growth engine. LATAM churn is the risk.</a:t>
            </a:r>
          </a:p>
          <a:p>
            <a:pPr>
              <a:defRPr sz="1800">
                <a:solidFill>
                  <a:srgbClr val="9AA8C0"/>
                </a:solidFill>
              </a:defRPr>
            </a:pPr>
            <a:r>
              <a:t>$19.0M total revenue  ·  4 regions  ·  3 products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43000"/>
            <a:ext cx="1097280" cy="50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Revenue grew every quarter in every region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AA8C0"/>
                </a:solidFill>
              </a:defRPr>
            </a:pPr>
            <a:r>
              <a:t>Full-year revenue $19.03M; Q4 was the strongest quarter for all four regions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828800"/>
          <a:ext cx="1097280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43000"/>
            <a:ext cx="1097280" cy="50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APAC is the growth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AA8C0"/>
                </a:solidFill>
              </a:defRPr>
            </a:pPr>
            <a:r>
              <a:t>Most new customers of any region, highest Q4 revenue, lowest average churn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828800"/>
          <a:ext cx="5943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76656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•  1,078 new customers in FY25, #1 of 4 regions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•  Q4 revenue $1.31M, highest of any region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•  Average churn 3.4%, lowest of any region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•  Q4 new logos hit 328, the best quarter of the year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•  Enterprise is the driver: $796K in Q4, up 15% vs Q1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43000"/>
            <a:ext cx="1097280" cy="50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LATAM churn is the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AA8C0"/>
                </a:solidFill>
              </a:defRPr>
            </a:pPr>
            <a:r>
              <a:t>Churn swings quarter to quarter and spikes above 5% on the largest lines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828800"/>
          <a:ext cx="5943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76656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•  LATAM Starter churn hit 5.8% in Q1, worst single reading of the year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•  LATAM Enterprise churn hit 5.4% in Q3 on the biggest revenue line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•  New-customer intake is volatile: 127 → 243 → 119 → 287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•  LATAM has the fewest total customers (776) so each lost account hurts more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•  Watch Europe too: average churn 4.2% and rising into Q4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43000"/>
            <a:ext cx="1097280" cy="50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Regional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AA8C0"/>
                </a:solidFill>
              </a:defRPr>
            </a:pPr>
            <a:r>
              <a:t>Full-year 2025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658368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0B1E3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0B1E3F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0B1E3F"/>
                          </a:solidFill>
                        </a:defRPr>
                      </a:pPr>
                      <a:r>
                        <a:t>Q1→Q4 growth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0B1E3F"/>
                          </a:solidFill>
                        </a:defRPr>
                      </a:pPr>
                      <a:r>
                        <a:t>New customers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0B1E3F"/>
                          </a:solidFill>
                        </a:defRPr>
                      </a:pPr>
                      <a:r>
                        <a:t>Avg churn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North America</a:t>
                      </a:r>
                    </a:p>
                  </a:txBody>
                  <a:tcPr>
                    <a:solidFill>
                      <a:srgbClr val="142B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$4.72M</a:t>
                      </a:r>
                    </a:p>
                  </a:txBody>
                  <a:tcPr>
                    <a:solidFill>
                      <a:srgbClr val="142B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142B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1,018</a:t>
                      </a:r>
                    </a:p>
                  </a:txBody>
                  <a:tcPr>
                    <a:solidFill>
                      <a:srgbClr val="142B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4.0%</a:t>
                      </a:r>
                    </a:p>
                  </a:txBody>
                  <a:tcPr>
                    <a:solidFill>
                      <a:srgbClr val="142B5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Europe</a:t>
                      </a:r>
                    </a:p>
                  </a:txBody>
                  <a:tcPr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$4.82M</a:t>
                      </a:r>
                    </a:p>
                  </a:txBody>
                  <a:tcPr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21%</a:t>
                      </a:r>
                    </a:p>
                  </a:txBody>
                  <a:tcPr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747</a:t>
                      </a:r>
                    </a:p>
                  </a:txBody>
                  <a:tcPr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4.2%</a:t>
                      </a:r>
                    </a:p>
                  </a:txBody>
                  <a:tcPr>
                    <a:solidFill>
                      <a:srgbClr val="0B1E3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APAC</a:t>
                      </a:r>
                    </a:p>
                  </a:txBody>
                  <a:tcPr>
                    <a:solidFill>
                      <a:srgbClr val="142B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$4.80M</a:t>
                      </a:r>
                    </a:p>
                  </a:txBody>
                  <a:tcPr>
                    <a:solidFill>
                      <a:srgbClr val="142B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142B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1,078</a:t>
                      </a:r>
                    </a:p>
                  </a:txBody>
                  <a:tcPr>
                    <a:solidFill>
                      <a:srgbClr val="142B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3.4%</a:t>
                      </a:r>
                    </a:p>
                  </a:txBody>
                  <a:tcPr>
                    <a:solidFill>
                      <a:srgbClr val="142B5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LATAM</a:t>
                      </a:r>
                    </a:p>
                  </a:txBody>
                  <a:tcPr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$4.70M</a:t>
                      </a:r>
                    </a:p>
                  </a:txBody>
                  <a:tcPr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23%</a:t>
                      </a:r>
                    </a:p>
                  </a:txBody>
                  <a:tcPr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776</a:t>
                      </a:r>
                    </a:p>
                  </a:txBody>
                  <a:tcPr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3.7%</a:t>
                      </a:r>
                    </a:p>
                  </a:txBody>
                  <a:tcPr>
                    <a:solidFill>
                      <a:srgbClr val="0B1E3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43000"/>
            <a:ext cx="1097280" cy="50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Three recommendations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37360"/>
            <a:ext cx="822960" cy="82296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B1E3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645919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Double down on APAC Enterprise</a:t>
            </a:r>
          </a:p>
          <a:p>
            <a:pPr>
              <a:defRPr sz="1600">
                <a:solidFill>
                  <a:srgbClr val="9AA8C0"/>
                </a:solidFill>
              </a:defRPr>
            </a:pPr>
            <a:r>
              <a:t>Add sales capacity in APAC for H1 2026. It brings the most new logos and the highest Q4 revenue at the lowest churn.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3337560"/>
            <a:ext cx="822960" cy="82296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B1E3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324612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Launch a LATAM retention program</a:t>
            </a:r>
          </a:p>
          <a:p>
            <a:pPr>
              <a:defRPr sz="1600">
                <a:solidFill>
                  <a:srgbClr val="9AA8C0"/>
                </a:solidFill>
              </a:defRPr>
            </a:pPr>
            <a:r>
              <a:t>Assign customer success to every LATAM Enterprise account and fix Starter onboarding. Target churn under 3.5% every quarter.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4937760"/>
            <a:ext cx="822960" cy="82296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B1E3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484632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Set a churn early-warning threshold</a:t>
            </a:r>
          </a:p>
          <a:p>
            <a:pPr>
              <a:defRPr sz="1600">
                <a:solidFill>
                  <a:srgbClr val="9AA8C0"/>
                </a:solidFill>
              </a:defRPr>
            </a:pPr>
            <a:r>
              <a:t>Flag any region-product line above 5% churn within the quarter, not at year end. Europe Q4 would have triggered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